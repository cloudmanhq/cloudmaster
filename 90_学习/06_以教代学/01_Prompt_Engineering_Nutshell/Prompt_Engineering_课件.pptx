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开场钩子：同一个模型，别人手里是生产级、你手里是玩具，差的不是模型是怎么问。自我介绍 + 以教代学宣言：讲得出来才算学会。互动：常翻车的扣 1，写得稳的扣 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定义 + 实习生类比贯穿全场。强调零训练成本：不微调不换模型立刻见效；好 System Prompt 在 Agent 中量化为 +5-15% 成功率。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重点讲"包含而非替代"：引用 Anthropic 原话"提示词工程是上下文工程的子集"。给听众定心丸：学 Prompt 不会过时。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七原则逐条过，每条配反例。记忆钩子：清晰、具体、行动、正向、分隔、迭代、边界。互动：让弹幕各说一条自己违反过的原则。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对照讲：差版违反原则 1/2/5，好版七原则齐备。强调分隔符：指令与数据分离是防注入的第一步。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 三坑是高频翻车点：标签分布、顺序效应、示例太理想。建议现场演示一个标签不均导致偏类的例子。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 三变体 + 成本权衡。必讲反例：推理模型自带推理过程，手写 CoT 反而干扰——这是 2026 年的常识更新点。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生产系统生死线：解析崩溃大多源于格式无硬约束。推荐 Outlines/Instructor，指向知识库深入文档。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六模块按顺序念一遍，强调第 6 条失败处理最常被遗漏。Agent 场景补充缓存分层：静态前置吃 Prompt Caching。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排查顺序=成本顺序：先改 Prompt，再补信息，最后换模型。强调单变量修改 + 测试集回归，否则无法归因。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案例是全场证据：65%→95%。复盘两句：V1→V2 格式问题、V2→V3 判定标准问题；每次只改一个维度。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八大陷阱快过，重点讲"否定句滥用"和"提示注入"两个最反直觉的。互动：弹幕认领自己踩过的坑。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四个升级信号逐条对号入座：满足两条就该学下节课。承上启下：Prompt 管"写什么"，Context 管"每一步看到什么"。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以教代学惯例：现场随机抽 2 题让弹幕作答；自己下播后 10 分钟过一遍，卡壳条目 = 下期开场补课素材。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三句话总结照念，重复记忆钩子。预告下集 Context 工程：注意力预算、上下文腐烂、Compaction。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收尾互动：让弹幕刷最想解决的翻车场景，挑两条现场给思路。指引底稿路径与延伸阅读。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990600"/>
            <a:ext cx="777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工程范式速成 第 1 课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62000" y="1485900"/>
            <a:ext cx="1143000" cy="634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727002"/>
            <a:ext cx="77724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工程 30 分钟速成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62000" y="2428577"/>
            <a:ext cx="777240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D5D8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同一个模型，为什么别人问能办事，你问就翻车？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2700189"/>
            <a:ext cx="7772400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D5D8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差的不是模型，是你写需求文档的手艺。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3301901"/>
            <a:ext cx="1153418" cy="355402"/>
          </a:xfrm>
          <a:prstGeom prst="roundRect">
            <a:avLst>
              <a:gd name="adj" fmla="val 14294"/>
            </a:avLst>
          </a:prstGeom>
          <a:solidFill>
            <a:srgbClr val="2E4053"/>
          </a:solidFill>
          <a:ln w="9525">
            <a:solidFill>
              <a:srgbClr val="4658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3925" y="3387626"/>
            <a:ext cx="846159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时长：30 分钟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42368" y="3301901"/>
            <a:ext cx="1551236" cy="355402"/>
          </a:xfrm>
          <a:prstGeom prst="roundRect">
            <a:avLst>
              <a:gd name="adj" fmla="val 14294"/>
            </a:avLst>
          </a:prstGeom>
          <a:solidFill>
            <a:srgbClr val="2E4053"/>
          </a:solidFill>
          <a:ln w="9525">
            <a:solidFill>
              <a:srgbClr val="4658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04293" y="3387626"/>
            <a:ext cx="125193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受众：零基础 → 初级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20554" y="3301901"/>
            <a:ext cx="2503438" cy="355402"/>
          </a:xfrm>
          <a:prstGeom prst="roundRect">
            <a:avLst>
              <a:gd name="adj" fmla="val 14294"/>
            </a:avLst>
          </a:prstGeom>
          <a:solidFill>
            <a:srgbClr val="2E4053"/>
          </a:solidFill>
          <a:ln w="9525">
            <a:solidFill>
              <a:srgbClr val="4658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82479" y="3387626"/>
            <a:ext cx="2223180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方法：费曼学习法 · 讲得出来才算学会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13853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92813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· 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1036" y="139601"/>
            <a:ext cx="42849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工程：给 AI 写需求文档的手艺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4140250" cy="970211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749201"/>
            <a:ext cx="0" cy="970211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914251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一句话理解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100" y="1161901"/>
            <a:ext cx="3853866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你怎么问，决定它怎么答。Prompt 工程就是设计输入指令、引导模型输出的方法论。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50" y="1820912"/>
            <a:ext cx="4140250" cy="1215182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1985963"/>
            <a:ext cx="39121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类比：刚入职的实习生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101" y="2233613"/>
            <a:ext cx="363229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读过海量资料（预训练），但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不知道你的具体需求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需求越模糊，它自由发挥空间越大，翻车概率越高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 Prompt = 一份让它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一次就做对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的需求文档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8200" y="749201"/>
            <a:ext cx="4140250" cy="1730276"/>
          </a:xfrm>
          <a:prstGeom prst="roundRect">
            <a:avLst>
              <a:gd name="adj" fmla="val 4404"/>
            </a:avLst>
          </a:prstGeom>
          <a:solidFill>
            <a:srgbClr val="1C2833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914251"/>
            <a:ext cx="39121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同一模型，不同命运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161901"/>
            <a:ext cx="3912159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代码生成："写个爬虫" vs 角色+约束+示例+边界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402556"/>
            <a:ext cx="3912159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可用性差 3-5 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643211"/>
            <a:ext cx="3912159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文本分类：给标签定义 + Few-shot + 输出格式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83866"/>
            <a:ext cx="3912159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准确率差 10-30pp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24521"/>
            <a:ext cx="3912159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而且：零训练成本、立刻见效、能用小模型省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13853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92813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· 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1036" y="139601"/>
            <a:ext cx="3937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三代范式：包含关系，不是替代关系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4600277" cy="1838771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251" y="926902"/>
            <a:ext cx="4244876" cy="1483370"/>
          </a:xfrm>
          <a:prstGeom prst="roundRect">
            <a:avLst>
              <a:gd name="adj" fmla="val 4281"/>
            </a:avLst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9252" y="1047452"/>
            <a:ext cx="4031933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工程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（2025-26）· 如何安全可靠执行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9252" y="1326207"/>
            <a:ext cx="3952875" cy="963513"/>
          </a:xfrm>
          <a:prstGeom prst="roundRect">
            <a:avLst>
              <a:gd name="adj" fmla="val 6590"/>
            </a:avLst>
          </a:prstGeom>
          <a:solidFill>
            <a:srgbClr val="D6EAF8"/>
          </a:solidFill>
          <a:ln w="19050">
            <a:solidFill>
              <a:srgbClr val="2E8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5252" y="1446758"/>
            <a:ext cx="3734092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工程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（2024-25）· 模型看到什么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5252" y="1725513"/>
            <a:ext cx="3660874" cy="443657"/>
          </a:xfrm>
          <a:prstGeom prst="roundRect">
            <a:avLst>
              <a:gd name="adj" fmla="val 14313"/>
            </a:avLst>
          </a:prstGeom>
          <a:solidFill>
            <a:srgbClr val="FFFFFF"/>
          </a:solidFill>
          <a:ln w="19050">
            <a:solidFill>
              <a:srgbClr val="7F8C8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1252" y="1846064"/>
            <a:ext cx="343625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工程</a:t>
            </a:r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（2023）· 写什么指令 ← 本课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8228" y="749201"/>
            <a:ext cx="3680222" cy="163800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136803" y="749201"/>
            <a:ext cx="0" cy="1638002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7778" y="914251"/>
            <a:ext cx="33846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关键结论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20928" y="1161901"/>
            <a:ext cx="3115121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是 Context 的子集（Anthropic 原话）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是 Harness 的"上下文管理"支柱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没有过时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：Agent 系统里 System Prompt 仍是行为的 DNA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 System Prompt = 任务成功率 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+5-15%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· 原则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3937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指令设计七原则（一切技法的源头）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16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749201"/>
          <a:ext cx="843275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93192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原则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说明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反例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清晰明确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不留歧义，说清做什么、不做什么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"写好一点"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具体细致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量化要求：长度、格式、数量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"详细一点"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行动导向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动词开头描述任务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"关于……的一些想法"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正向表述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说"要什么"比"不要什么"更有效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通篇"禁止/不要"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结构化分隔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用分隔符隔离指令与数据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指令和输入混在一起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迭代优化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没有一次写对的 Prompt，只有测出来的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写完就上线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边界防护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预设越权/注入/拒答的处理方式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完全信任用户输入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· 原则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36855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案例：从"帮我总结"到生产级指令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4140250" cy="1173659"/>
          </a:xfrm>
          <a:prstGeom prst="roundRect">
            <a:avLst>
              <a:gd name="adj" fmla="val 6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749201"/>
            <a:ext cx="0" cy="1173659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914251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差（违反原则 1/2/5）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100" y="1161901"/>
            <a:ext cx="385386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帮我总结这篇文章：</a:t>
            </a:r>
            <a:endParaRPr lang="en-US" sz="1000" dirty="0"/>
          </a:p>
          <a:p>
            <a:pPr algn="l" indent="0" marL="0">
              <a:lnSpc>
                <a:spcPts val="14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&lt;粘贴的文章&gt;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5100" y="1567904"/>
            <a:ext cx="385386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问题：无角色、无量化、指令与数据混在一起。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8200" y="749201"/>
            <a:ext cx="4140250" cy="1439466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76775" y="749201"/>
            <a:ext cx="0" cy="1439466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7750" y="914251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好（七原则齐备）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7750" y="1161901"/>
            <a:ext cx="3853866" cy="87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你是技术编辑（角色）。总结文章（行动导向）：</a:t>
            </a:r>
            <a:endParaRPr lang="en-US" sz="950" dirty="0"/>
          </a:p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3-5 个要点，每点 ≤30 字（量化）</a:t>
            </a:r>
            <a:endParaRPr lang="en-US" sz="950" dirty="0"/>
          </a:p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"结论+依据"结构（结构化）</a:t>
            </a:r>
            <a:endParaRPr lang="en-US" sz="950" dirty="0"/>
          </a:p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信息不足要明说（边界防护）</a:t>
            </a:r>
            <a:endParaRPr lang="en-US" sz="950" dirty="0"/>
          </a:p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文章用 &lt;article&gt; 标签包裹（分隔符）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5550" y="2290167"/>
            <a:ext cx="8432899" cy="481757"/>
          </a:xfrm>
          <a:prstGeom prst="roundRect">
            <a:avLst>
              <a:gd name="adj" fmla="val 15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4125" y="2290167"/>
            <a:ext cx="0" cy="481757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100" y="2429768"/>
            <a:ext cx="8232368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记忆钩子：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清晰、具体、行动、正向、分隔、迭代、边界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—— 写之前先过一遍这七个词。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265486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105762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· 核心技法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47986" y="139601"/>
            <a:ext cx="44568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Zero-shot 与 Few-shot：给不给示例？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743051"/>
            <a:ext cx="8432899" cy="1215182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743051"/>
            <a:ext cx="0" cy="1215182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2908102"/>
            <a:ext cx="8232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Few-shot 三个坑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251" y="3155752"/>
            <a:ext cx="786779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标签分布不均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模型偏向多数类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示例顺序效应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靠后的示例权重更高，边界案例放后面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示例太理想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生产输入是脏数据，示例要覆盖真实分布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749201"/>
          <a:ext cx="843275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技法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做法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Zero-shot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直接下指令，不给示例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任务定义清晰、模型已擅长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One-shot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给 1 个示例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输出格式特殊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Few-shot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给 2-8 个示例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分类标准主观、格式严格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265486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105762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· 核心技法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47986" y="139601"/>
            <a:ext cx="25299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CoT 思维链：先想后答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615952"/>
            <a:ext cx="4140250" cy="914846"/>
          </a:xfrm>
          <a:prstGeom prst="roundRect">
            <a:avLst>
              <a:gd name="adj" fmla="val 8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2615952"/>
            <a:ext cx="0" cy="914846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2781002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100" y="3028652"/>
            <a:ext cx="3853866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"请先一步步分析，最后用'答案：'开头给出结论。"</a:t>
            </a:r>
            <a:endParaRPr lang="en-US" sz="950" dirty="0"/>
          </a:p>
          <a:p>
            <a:pPr algn="l" indent="0" marL="0">
              <a:lnSpc>
                <a:spcPts val="137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—— 一句话提升数学/逻辑题正确率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48200" y="2615952"/>
            <a:ext cx="4140250" cy="970211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76775" y="2615952"/>
            <a:ext cx="0" cy="970211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7750" y="2781002"/>
            <a:ext cx="38538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注意：推理模型反例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7750" y="3028652"/>
            <a:ext cx="3853866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 系列、DeepSeek-R1 等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自带推理过程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，手动 CoT 提示可能适得其反——给目标和约束即可。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12820" y="4919960"/>
            <a:ext cx="28114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749201"/>
          <a:ext cx="843275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291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变体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触发方式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特点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Manual CoT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手写推理步骤示例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可控但费力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Zero-shot CoT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加一句"让我们一步步思考"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零成本，效果中等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Self-Consistency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采样多条推理链投票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效果最好，成本最高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265486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1057623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· 核心技法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47986" y="139601"/>
            <a:ext cx="34453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结构化输出：生产系统的生死线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327202"/>
            <a:ext cx="8432899" cy="481757"/>
          </a:xfrm>
          <a:prstGeom prst="roundRect">
            <a:avLst>
              <a:gd name="adj" fmla="val 15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327202"/>
            <a:ext cx="0" cy="481757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3466802"/>
            <a:ext cx="8232368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原则：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输出格式必须有硬约束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。口头要求 JSON ≈ 没有约束——模型会加代码块、尾逗号、解释文字，解析即崩溃。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749201"/>
          <a:ext cx="843275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4206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手段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可靠性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说明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口头要求"输出 JSON"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可能加代码块、尾逗号、解释文字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JSON Schema 示例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配合 Few-shot 效果更好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API 层 JSON Mode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保证合法 JSON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约束解码（Outlines/Instructor）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最高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逐 Token 约束，语法上不可能出错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13853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92813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第四幕 · 工程化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1036" y="139601"/>
            <a:ext cx="3234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生产级 Prompt 的六模块组装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4429125" cy="1896963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914251"/>
            <a:ext cx="42068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六模块模板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1101" y="1161901"/>
            <a:ext cx="3921175" cy="1331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角色定义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（你是谁）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任务描述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（做什么）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约束条件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（边界与禁止项）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输入数据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（分隔符包裹）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输出格式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（Schema + 示例）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失败处理</a:t>
            </a:r>
            <a:pPr algn="l" indent="0" marL="0">
              <a:lnSpc>
                <a:spcPts val="1540"/>
              </a:lnSpc>
              <a:spcAft>
                <a:spcPts val="25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（信息不足怎么办）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075" y="749201"/>
            <a:ext cx="3851374" cy="1451521"/>
          </a:xfrm>
          <a:prstGeom prst="roundRect">
            <a:avLst>
              <a:gd name="adj" fmla="val 5250"/>
            </a:avLst>
          </a:prstGeom>
          <a:solidFill>
            <a:srgbClr val="1C2833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89475" y="914251"/>
            <a:ext cx="3617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场景：按可缓存性分层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89475" y="1161901"/>
            <a:ext cx="3617506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静态模块（能力说明 / 领域知识）→ 放前面，吃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提示词缓存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89475" y="1605111"/>
            <a:ext cx="361750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动态模块（身份 / 当前会话）→ 放后面，每次重生成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89475" y="1845766"/>
            <a:ext cx="361750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缓存读取远便宜于重算：成本可降一个数量级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7462" y="4919960"/>
            <a:ext cx="286607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第五幕 · 调试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29532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输出不对？失败归因三步法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2709267" cy="81528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55550" y="773013"/>
            <a:ext cx="2709267" cy="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3906" y="961876"/>
            <a:ext cx="24525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模型理解任务了吗？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3906" y="1209526"/>
            <a:ext cx="2452557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 → </a:t>
            </a:r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指令问题</a:t>
            </a:r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：补角色 / 任务 / 约束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7218" y="749201"/>
            <a:ext cx="2709416" cy="1017836"/>
          </a:xfrm>
          <a:prstGeom prst="roundRect">
            <a:avLst>
              <a:gd name="adj" fmla="val 7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17218" y="773013"/>
            <a:ext cx="2709416" cy="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5571" y="961876"/>
            <a:ext cx="24527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有足够信息吗？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45571" y="1209526"/>
            <a:ext cx="245270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 → </a:t>
            </a:r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信息问题</a:t>
            </a:r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：补 Few-shot / 上下文（进入 Context 工程）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79034" y="749201"/>
            <a:ext cx="2709416" cy="81528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9034" y="773013"/>
            <a:ext cx="2709416" cy="0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7387" y="961876"/>
            <a:ext cx="24527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有能力做吗？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07387" y="1209526"/>
            <a:ext cx="2452708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否 → </a:t>
            </a:r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能力问题</a:t>
            </a:r>
            <a:pPr algn="ctr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：换更强模型 / 拆任务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550" y="1881336"/>
            <a:ext cx="8432899" cy="957411"/>
          </a:xfrm>
          <a:prstGeom prst="roundRect">
            <a:avLst>
              <a:gd name="adj" fmla="val 79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4125" y="1881336"/>
            <a:ext cx="0" cy="957411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100" y="2046387"/>
            <a:ext cx="8232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迭代闭环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5100" y="2294037"/>
            <a:ext cx="823236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 10-30 个用例的测试集 → 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单变量修改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全量回归 → Prompt 当代码管（Git + 版本号）。成本从低到高排查：先改 Prompt，再补信息，最后才换模型。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66683" y="4919960"/>
            <a:ext cx="32820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第六幕 · 案例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37876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三轮迭代：工单抽取 65% → 95%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492401"/>
            <a:ext cx="8432899" cy="684312"/>
          </a:xfrm>
          <a:prstGeom prst="roundRect">
            <a:avLst>
              <a:gd name="adj" fmla="val 111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492401"/>
            <a:ext cx="0" cy="684312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3632002"/>
            <a:ext cx="823236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：V1→V2 解决"格式问题"（原则 2/5）；V2→V3 解决"判定标准问题"（原则 1/4 + Few-shot）。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每次只改一个维度，才能知道是哪个改动起了作用。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86924" y="4919960"/>
            <a:ext cx="30755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16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749201"/>
          <a:ext cx="843275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480560"/>
                <a:gridCol w="3108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版本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 要点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问题 / 效果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V1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"把用户报障信息整理成工单"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格式随机、缺字段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V2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JSON 字段定义（device/symptom/severity…）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severity 判断不稳定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V3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判定标准 + Few-shot + 兜底规则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字段完整率 65%→95%；一致率 70%→95%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第七幕 · 避坑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1476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八大常见陷阱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66683" y="4919960"/>
            <a:ext cx="32820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16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5550" y="749201"/>
          <a:ext cx="843275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566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陷阱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症状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修复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指令矛盾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输出在两种行为间摇摆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通读检查冲突规则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否定句滥用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说"不要提 X"反而让它提 X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改正向表述"只讨论 Y"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超长指令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中间部分被忽略（Lost in the Middle）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关键约束放开头和结尾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示例污染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Few-shot 示例带偏见/错误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审查每个示例的标签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格式口头化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要 JSON 却输出解释文字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约束解码 / JSON Mode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提示注入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用户输入劫持指令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分隔符隔离 + 输出审查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过度工程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数千 Token 效果平平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删到最小可工作版本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不写测试集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每次改动都是开盲盒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先建 10 个用例再动手</a:t>
                      </a:r>
                      <a:endParaRPr lang="en-US" sz="9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第八幕 · 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40377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四个信号：该升级到 Context 工程了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4140250" cy="507355"/>
          </a:xfrm>
          <a:prstGeom prst="roundRect">
            <a:avLst>
              <a:gd name="adj" fmla="val 15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749201"/>
            <a:ext cx="0" cy="5073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901601"/>
            <a:ext cx="385386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知识量超过合理 Prompt 长度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需要 RAG 检索注入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5550" y="1345406"/>
            <a:ext cx="4140250" cy="507355"/>
          </a:xfrm>
          <a:prstGeom prst="roundRect">
            <a:avLst>
              <a:gd name="adj" fmla="val 15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84125" y="1345406"/>
            <a:ext cx="0" cy="5073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100" y="1497806"/>
            <a:ext cx="385386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多轮对话后"忘记"早期约定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需要记忆管理与上下文维护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8200" y="749201"/>
            <a:ext cx="4140250" cy="507355"/>
          </a:xfrm>
          <a:prstGeom prst="roundRect">
            <a:avLst>
              <a:gd name="adj" fmla="val 15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76775" y="749201"/>
            <a:ext cx="0" cy="5073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0" y="901601"/>
            <a:ext cx="385386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不同用户/会话要不同指令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需要动态 Prompt 组装管道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345406"/>
            <a:ext cx="4140250" cy="507355"/>
          </a:xfrm>
          <a:prstGeom prst="roundRect">
            <a:avLst>
              <a:gd name="adj" fmla="val 15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6775" y="1345406"/>
            <a:ext cx="0" cy="5073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7750" y="1497806"/>
            <a:ext cx="3853866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指令里塞满临时数据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"指令"与"数据"该分层了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550" y="1967061"/>
            <a:ext cx="8432899" cy="684312"/>
          </a:xfrm>
          <a:prstGeom prst="roundRect">
            <a:avLst>
              <a:gd name="adj" fmla="val 11135"/>
            </a:avLst>
          </a:prstGeom>
          <a:solidFill>
            <a:srgbClr val="1C2833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2106662"/>
            <a:ext cx="8290661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工程关心"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模型每一步看到什么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"——系统提示、检索结果、工具输出、对话历史的整体编排。Prompt 工程是它的第一步，但不是全部。→ 下节课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66683" y="4919960"/>
            <a:ext cx="32820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1011585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798644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第九幕 · 自检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94086" y="139601"/>
            <a:ext cx="36914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费曼自检表：卡壳处就是补课素材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4140250" cy="1409402"/>
          </a:xfrm>
          <a:prstGeom prst="roundRect">
            <a:avLst>
              <a:gd name="adj" fmla="val 5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901601"/>
            <a:ext cx="3632299" cy="1104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大白话解释 Prompt 工程（不含术语）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Zero-shot 和 Few-shot 怎么选？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CoT 为什么有效？何时不该用？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生产级 Prompt 六模块默写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输出不稳的排查顺序？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8200" y="749201"/>
            <a:ext cx="4140250" cy="1182142"/>
          </a:xfrm>
          <a:prstGeom prst="roundRect">
            <a:avLst>
              <a:gd name="adj" fmla="val 64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03750" y="901601"/>
            <a:ext cx="3632299" cy="87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举 3 个你踩过的坑 + 修复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与 Context 的边界？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推理模型为何不手写 CoT？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250"/>
              </a:spcAft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 V2→V3 解决了什么？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50" y="2260104"/>
            <a:ext cx="8432899" cy="684312"/>
          </a:xfrm>
          <a:prstGeom prst="roundRect">
            <a:avLst>
              <a:gd name="adj" fmla="val 111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4125" y="2260104"/>
            <a:ext cx="0" cy="684312"/>
          </a:xfrm>
          <a:prstGeom prst="line">
            <a:avLst/>
          </a:prstGeom>
          <a:noFill/>
          <a:ln w="571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100" y="2399705"/>
            <a:ext cx="8232368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实战作业</a:t>
            </a:r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：挑一个你与 AI 对话常翻车的场景，用六模块模板重写 Prompt，在 ≥5 个真实输入上验证；再做一次三轮迭代并记录每轮解决了什么。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66683" y="4919960"/>
            <a:ext cx="32820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9680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01" y="180975"/>
            <a:ext cx="482650" cy="260152"/>
          </a:xfrm>
          <a:prstGeom prst="roundRect">
            <a:avLst>
              <a:gd name="adj" fmla="val 1464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219075"/>
            <a:ext cx="259131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5150" y="139601"/>
            <a:ext cx="1722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三句话压缩全场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749201"/>
            <a:ext cx="8432899" cy="76765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749201"/>
            <a:ext cx="0" cy="7676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914251"/>
            <a:ext cx="8232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5100" y="1161901"/>
            <a:ext cx="8232368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工程 = 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 AI 写需求文档的手艺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：清晰、具体、行动、正向、分隔、迭代、边界。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5550" y="1593056"/>
            <a:ext cx="8432899" cy="76765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4125" y="1593056"/>
            <a:ext cx="0" cy="7676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100" y="1758107"/>
            <a:ext cx="8232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5100" y="2005757"/>
            <a:ext cx="8232368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生产可用靠工程化：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六模块组装 + 测试集回归 + 版本管理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，Prompt 就是代码。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550" y="2436912"/>
            <a:ext cx="8432899" cy="767655"/>
          </a:xfrm>
          <a:prstGeom prst="roundRect">
            <a:avLst>
              <a:gd name="adj" fmla="val 9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84125" y="2436912"/>
            <a:ext cx="0" cy="767655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100" y="2601962"/>
            <a:ext cx="82323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5100" y="2849612"/>
            <a:ext cx="8232368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它是三代范式的第一层：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⊂ Context ⊂ Harness</a:t>
            </a:r>
            <a:pPr algn="l" indent="0" marL="0">
              <a:lnSpc>
                <a:spcPts val="159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——指令写好了，下一课讲"模型每一步看到什么"。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550" y="3280767"/>
            <a:ext cx="8432899" cy="481757"/>
          </a:xfrm>
          <a:prstGeom prst="roundRect">
            <a:avLst>
              <a:gd name="adj" fmla="val 15817"/>
            </a:avLst>
          </a:prstGeom>
          <a:solidFill>
            <a:srgbClr val="1C2833"/>
          </a:solidFill>
          <a:ln/>
          <a:effectLst>
            <a:outerShdw sx="100000" sy="100000" kx="0" ky="0" algn="bl" rotWithShape="0" blurRad="47625" dist="13470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3420368"/>
            <a:ext cx="8290661" cy="202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下集预告：Context 工程 30 分钟速成 —— 注意力预算、上下文腐烂、Compaction 与 Offload。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5550" y="4919960"/>
            <a:ext cx="154203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Prompt 工程速成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66683" y="4919960"/>
            <a:ext cx="328202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7F8C8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77689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F5B04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以教代学系列 · 第 1 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779240"/>
            <a:ext cx="1143000" cy="634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2121991"/>
            <a:ext cx="7772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讲得出来，才算学会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62000" y="2731591"/>
            <a:ext cx="7772400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50" dirty="0">
                <a:solidFill>
                  <a:srgbClr val="D5D8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底稿：90_学习/06_以教代学/01_Prompt_Engineering_Nutshell/Prompt_Engineering_in-nutshell.md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2000" y="3013918"/>
            <a:ext cx="7772400" cy="21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50" dirty="0">
                <a:solidFill>
                  <a:srgbClr val="D5D8D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延伸阅读：Prompt 工程完整指南 · 模板与模式库 · 吴恩达原则 · Context 工程指南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2000" y="3626346"/>
            <a:ext cx="777240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CF0F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 ｜ 弹幕刷出你今天最想解决的一个 Prompt 翻车场景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工程 30 分钟速成（以教代学系列 · 第 1 课）</dc:title>
  <dc:subject>PptxGenJS Presentation</dc:subject>
  <dc:creator>AI Guru 知识库</dc:creator>
  <cp:lastModifiedBy>AI Guru 知识库</cp:lastModifiedBy>
  <cp:revision>1</cp:revision>
  <dcterms:created xsi:type="dcterms:W3CDTF">2026-08-26T15:03:36Z</dcterms:created>
  <dcterms:modified xsi:type="dcterms:W3CDTF">2026-08-26T15:03:36Z</dcterms:modified>
</cp:coreProperties>
</file>